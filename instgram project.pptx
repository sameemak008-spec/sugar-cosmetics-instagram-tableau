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423" r:id="rId3"/>
    <p:sldId id="467" r:id="rId4"/>
    <p:sldId id="490" r:id="rId5"/>
    <p:sldId id="512" r:id="rId6"/>
    <p:sldId id="513" r:id="rId7"/>
    <p:sldId id="514" r:id="rId8"/>
    <p:sldId id="515" r:id="rId9"/>
    <p:sldId id="516" r:id="rId10"/>
    <p:sldId id="517" r:id="rId11"/>
    <p:sldId id="518" r:id="rId12"/>
    <p:sldId id="519" r:id="rId13"/>
    <p:sldId id="489" r:id="rId14"/>
  </p:sldIdLst>
  <p:sldSz cx="9144000" cy="5143500" type="screen16x9"/>
  <p:notesSz cx="6858000" cy="9144000"/>
  <p:embeddedFontLst>
    <p:embeddedFont>
      <p:font typeface="Open Sans" panose="020B0606030504020204" charset="0"/>
      <p:regular r:id="rId21"/>
      <p:bold r:id="rId22"/>
    </p:embeddedFont>
    <p:embeddedFont>
      <p:font typeface="Cinzel" panose="00000500000000000000" charset="0"/>
      <p:regular r:id="rId23"/>
    </p:embeddedFont>
  </p:embeddedFontLst>
  <p:custDataLst>
    <p:tags r:id="rId2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45" userDrawn="1">
          <p15:clr>
            <a:srgbClr val="A4A3A4"/>
          </p15:clr>
        </p15:guide>
        <p15:guide id="2" orient="horz" pos="2707" userDrawn="1">
          <p15:clr>
            <a:srgbClr val="A4A3A4"/>
          </p15:clr>
        </p15:guide>
        <p15:guide id="3" pos="2846" userDrawn="1">
          <p15:clr>
            <a:srgbClr val="A4A3A4"/>
          </p15:clr>
        </p15:guide>
        <p15:guide id="4" orient="horz" pos="1189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哒哒 熊猫" initials="哒哒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9C5BE"/>
    <a:srgbClr val="FBB885"/>
    <a:srgbClr val="AD8555"/>
    <a:srgbClr val="FDDABF"/>
    <a:srgbClr val="CEE7E4"/>
    <a:srgbClr val="FFFEF9"/>
    <a:srgbClr val="CEB69A"/>
    <a:srgbClr val="B0D8D3"/>
    <a:srgbClr val="DEEFED"/>
    <a:srgbClr val="FDE9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14" autoAdjust="0"/>
    <p:restoredTop sz="94660"/>
  </p:normalViewPr>
  <p:slideViewPr>
    <p:cSldViewPr snapToGrid="0" showGuides="1">
      <p:cViewPr varScale="1">
        <p:scale>
          <a:sx n="114" d="100"/>
          <a:sy n="114" d="100"/>
        </p:scale>
        <p:origin x="317" y="82"/>
      </p:cViewPr>
      <p:guideLst>
        <p:guide orient="horz" pos="2845"/>
        <p:guide orient="horz" pos="2707"/>
        <p:guide pos="2846"/>
        <p:guide orient="horz" pos="118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923" y="6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gs" Target="tags/tag1.xml"/><Relationship Id="rId23" Type="http://schemas.openxmlformats.org/officeDocument/2006/relationships/font" Target="fonts/font3.fntdata"/><Relationship Id="rId22" Type="http://schemas.openxmlformats.org/officeDocument/2006/relationships/font" Target="fonts/font2.fntdata"/><Relationship Id="rId21" Type="http://schemas.openxmlformats.org/officeDocument/2006/relationships/font" Target="fonts/font1.fntdata"/><Relationship Id="rId20" Type="http://schemas.openxmlformats.org/officeDocument/2006/relationships/commentAuthors" Target="commentAuthors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handoutMaster" Target="handoutMasters/handoutMaster1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Open Sans" panose="020B0606030504020204" charset="0"/>
              <a:ea typeface="Open Sans" panose="020B0606030504020204" charset="0"/>
              <a:cs typeface="Open Sans" panose="020B0606030504020204" charset="0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9C52E3-5160-4105-9DEC-6617FF6BA5B1}" type="datetimeFigureOut">
              <a:rPr lang="zh-CN" altLang="en-US" smtClean="0"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</a:rPr>
            </a:fld>
            <a:endParaRPr lang="zh-CN" altLang="en-US">
              <a:latin typeface="Open Sans" panose="020B0606030504020204" charset="0"/>
              <a:ea typeface="Open Sans" panose="020B0606030504020204" charset="0"/>
              <a:cs typeface="Open Sans" panose="020B060603050402020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Open Sans" panose="020B0606030504020204" charset="0"/>
              <a:ea typeface="Open Sans" panose="020B0606030504020204" charset="0"/>
              <a:cs typeface="Open Sans" panose="020B060603050402020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A82E6B-6079-4FBD-944C-D58E234235D6}" type="slidenum">
              <a:rPr lang="zh-CN" altLang="en-US" smtClean="0"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</a:rPr>
            </a:fld>
            <a:endParaRPr lang="zh-CN" altLang="en-US">
              <a:latin typeface="Open Sans" panose="020B0606030504020204" charset="0"/>
              <a:ea typeface="Open Sans" panose="020B0606030504020204" charset="0"/>
              <a:cs typeface="Open Sans" panose="020B060603050402020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Open Sans" panose="020B0606030504020204" charset="0"/>
        <a:ea typeface="Open Sans" panose="020B0606030504020204" charset="0"/>
        <a:cs typeface="Open Sans" panose="020B060603050402020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Open Sans" panose="020B0606030504020204" charset="0"/>
        <a:ea typeface="Open Sans" panose="020B0606030504020204" charset="0"/>
        <a:cs typeface="Open Sans" panose="020B060603050402020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Open Sans" panose="020B0606030504020204" charset="0"/>
        <a:ea typeface="Open Sans" panose="020B0606030504020204" charset="0"/>
        <a:cs typeface="Open Sans" panose="020B060603050402020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Open Sans" panose="020B0606030504020204" charset="0"/>
        <a:ea typeface="Open Sans" panose="020B0606030504020204" charset="0"/>
        <a:cs typeface="Open Sans" panose="020B060603050402020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Open Sans" panose="020B0606030504020204" charset="0"/>
        <a:ea typeface="Open Sans" panose="020B0606030504020204" charset="0"/>
        <a:cs typeface="Open Sans" panose="020B060603050402020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50" t="15985" r="26933" b="33197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020" r="72852" b="479"/>
          <a:stretch>
            <a:fillRect/>
          </a:stretch>
        </p:blipFill>
        <p:spPr>
          <a:xfrm>
            <a:off x="1" y="0"/>
            <a:ext cx="1981200" cy="156882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020" r="72852" b="479"/>
          <a:stretch>
            <a:fillRect/>
          </a:stretch>
        </p:blipFill>
        <p:spPr>
          <a:xfrm>
            <a:off x="1" y="0"/>
            <a:ext cx="1981200" cy="1568824"/>
          </a:xfrm>
          <a:prstGeom prst="rect">
            <a:avLst/>
          </a:prstGeom>
        </p:spPr>
      </p:pic>
      <p:sp>
        <p:nvSpPr>
          <p:cNvPr id="3" name="图片占位符 4"/>
          <p:cNvSpPr>
            <a:spLocks noGrp="1"/>
          </p:cNvSpPr>
          <p:nvPr>
            <p:ph type="pic" sz="quarter" idx="10"/>
          </p:nvPr>
        </p:nvSpPr>
        <p:spPr>
          <a:xfrm>
            <a:off x="0" y="1241319"/>
            <a:ext cx="2203097" cy="228319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2303830" y="1240970"/>
            <a:ext cx="2217804" cy="2276669"/>
          </a:xfrm>
          <a:prstGeom prst="rect">
            <a:avLst/>
          </a:prstGeom>
          <a:solidFill>
            <a:srgbClr val="FBB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Open Sans" panose="020B0606030504020204" charset="0"/>
            </a:endParaRPr>
          </a:p>
        </p:txBody>
      </p:sp>
      <p:sp>
        <p:nvSpPr>
          <p:cNvPr id="6" name="图片占位符 4"/>
          <p:cNvSpPr>
            <a:spLocks noGrp="1"/>
          </p:cNvSpPr>
          <p:nvPr>
            <p:ph type="pic" sz="quarter" idx="11"/>
          </p:nvPr>
        </p:nvSpPr>
        <p:spPr>
          <a:xfrm>
            <a:off x="4622367" y="1241319"/>
            <a:ext cx="2203097" cy="228319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6926196" y="1240970"/>
            <a:ext cx="2217804" cy="2276669"/>
          </a:xfrm>
          <a:prstGeom prst="rect">
            <a:avLst/>
          </a:prstGeom>
          <a:solidFill>
            <a:srgbClr val="89C5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Open Sans" panose="020B060603050402020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3" b="781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200025" y="250420"/>
            <a:ext cx="8743950" cy="4642661"/>
          </a:xfrm>
          <a:prstGeom prst="rect">
            <a:avLst/>
          </a:prstGeom>
          <a:solidFill>
            <a:srgbClr val="EFEE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Open Sans" panose="020B0606030504020204" charset="0"/>
            </a:endParaRPr>
          </a:p>
        </p:txBody>
      </p:sp>
      <p:sp>
        <p:nvSpPr>
          <p:cNvPr id="5" name="图片占位符 4"/>
          <p:cNvSpPr>
            <a:spLocks noGrp="1"/>
          </p:cNvSpPr>
          <p:nvPr>
            <p:ph type="pic" sz="quarter" idx="10"/>
          </p:nvPr>
        </p:nvSpPr>
        <p:spPr>
          <a:xfrm>
            <a:off x="267705" y="1392718"/>
            <a:ext cx="4262437" cy="147637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/>
          <p:cNvSpPr/>
          <p:nvPr userDrawn="1"/>
        </p:nvSpPr>
        <p:spPr>
          <a:xfrm>
            <a:off x="4597166" y="1392572"/>
            <a:ext cx="4177717" cy="1510019"/>
          </a:xfrm>
          <a:prstGeom prst="rect">
            <a:avLst/>
          </a:prstGeom>
          <a:solidFill>
            <a:srgbClr val="A47D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Open Sans" panose="020B060603050402020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3" b="781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200025" y="250420"/>
            <a:ext cx="8743950" cy="4642661"/>
          </a:xfrm>
          <a:prstGeom prst="rect">
            <a:avLst/>
          </a:prstGeom>
          <a:solidFill>
            <a:srgbClr val="EFEE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Open Sans" panose="020B0606030504020204" charset="0"/>
            </a:endParaRPr>
          </a:p>
        </p:txBody>
      </p:sp>
      <p:sp>
        <p:nvSpPr>
          <p:cNvPr id="4" name="矩形: 圆角 3"/>
          <p:cNvSpPr/>
          <p:nvPr userDrawn="1"/>
        </p:nvSpPr>
        <p:spPr>
          <a:xfrm>
            <a:off x="711924" y="1574074"/>
            <a:ext cx="2005149" cy="2592978"/>
          </a:xfrm>
          <a:prstGeom prst="roundRect">
            <a:avLst>
              <a:gd name="adj" fmla="val 9501"/>
            </a:avLst>
          </a:prstGeom>
          <a:solidFill>
            <a:srgbClr val="A47D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Open Sans" panose="020B0606030504020204" charset="0"/>
            </a:endParaRPr>
          </a:p>
        </p:txBody>
      </p:sp>
      <p:sp>
        <p:nvSpPr>
          <p:cNvPr id="5" name="图片占位符 4"/>
          <p:cNvSpPr>
            <a:spLocks noGrp="1"/>
          </p:cNvSpPr>
          <p:nvPr>
            <p:ph type="pic" sz="quarter" idx="10"/>
          </p:nvPr>
        </p:nvSpPr>
        <p:spPr>
          <a:xfrm>
            <a:off x="819352" y="1723661"/>
            <a:ext cx="1790292" cy="941161"/>
          </a:xfrm>
          <a:prstGeom prst="roundRect">
            <a:avLst>
              <a:gd name="adj" fmla="val 15279"/>
            </a:avLst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椭圆 5"/>
          <p:cNvSpPr/>
          <p:nvPr userDrawn="1"/>
        </p:nvSpPr>
        <p:spPr>
          <a:xfrm>
            <a:off x="1417319" y="3814355"/>
            <a:ext cx="574765" cy="574765"/>
          </a:xfrm>
          <a:prstGeom prst="ellipse">
            <a:avLst/>
          </a:prstGeom>
          <a:solidFill>
            <a:srgbClr val="A47D69"/>
          </a:solidFill>
          <a:ln w="38100">
            <a:solidFill>
              <a:srgbClr val="EFEE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Open Sans" panose="020B0606030504020204" charset="0"/>
            </a:endParaRPr>
          </a:p>
        </p:txBody>
      </p:sp>
      <p:sp>
        <p:nvSpPr>
          <p:cNvPr id="7" name="矩形: 圆角 6"/>
          <p:cNvSpPr/>
          <p:nvPr userDrawn="1"/>
        </p:nvSpPr>
        <p:spPr>
          <a:xfrm>
            <a:off x="3579221" y="1574074"/>
            <a:ext cx="2005149" cy="2592978"/>
          </a:xfrm>
          <a:prstGeom prst="roundRect">
            <a:avLst>
              <a:gd name="adj" fmla="val 9501"/>
            </a:avLst>
          </a:prstGeom>
          <a:solidFill>
            <a:srgbClr val="A47D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Open Sans" panose="020B0606030504020204" charset="0"/>
            </a:endParaRPr>
          </a:p>
        </p:txBody>
      </p:sp>
      <p:sp>
        <p:nvSpPr>
          <p:cNvPr id="8" name="图片占位符 4"/>
          <p:cNvSpPr>
            <a:spLocks noGrp="1"/>
          </p:cNvSpPr>
          <p:nvPr>
            <p:ph type="pic" sz="quarter" idx="11"/>
          </p:nvPr>
        </p:nvSpPr>
        <p:spPr>
          <a:xfrm>
            <a:off x="3686649" y="1723661"/>
            <a:ext cx="1790292" cy="941161"/>
          </a:xfrm>
          <a:prstGeom prst="roundRect">
            <a:avLst>
              <a:gd name="adj" fmla="val 15279"/>
            </a:avLst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椭圆 8"/>
          <p:cNvSpPr/>
          <p:nvPr userDrawn="1"/>
        </p:nvSpPr>
        <p:spPr>
          <a:xfrm>
            <a:off x="4284616" y="3814355"/>
            <a:ext cx="574765" cy="574765"/>
          </a:xfrm>
          <a:prstGeom prst="ellipse">
            <a:avLst/>
          </a:prstGeom>
          <a:solidFill>
            <a:srgbClr val="A47D69"/>
          </a:solidFill>
          <a:ln w="38100">
            <a:solidFill>
              <a:srgbClr val="EFEE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Open Sans" panose="020B0606030504020204" charset="0"/>
            </a:endParaRPr>
          </a:p>
        </p:txBody>
      </p:sp>
      <p:sp>
        <p:nvSpPr>
          <p:cNvPr id="10" name="矩形: 圆角 9"/>
          <p:cNvSpPr/>
          <p:nvPr userDrawn="1"/>
        </p:nvSpPr>
        <p:spPr>
          <a:xfrm>
            <a:off x="6446519" y="1574074"/>
            <a:ext cx="2005149" cy="2592978"/>
          </a:xfrm>
          <a:prstGeom prst="roundRect">
            <a:avLst>
              <a:gd name="adj" fmla="val 9501"/>
            </a:avLst>
          </a:prstGeom>
          <a:solidFill>
            <a:srgbClr val="A47D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Open Sans" panose="020B0606030504020204" charset="0"/>
            </a:endParaRPr>
          </a:p>
        </p:txBody>
      </p:sp>
      <p:sp>
        <p:nvSpPr>
          <p:cNvPr id="11" name="图片占位符 4"/>
          <p:cNvSpPr>
            <a:spLocks noGrp="1"/>
          </p:cNvSpPr>
          <p:nvPr>
            <p:ph type="pic" sz="quarter" idx="12"/>
          </p:nvPr>
        </p:nvSpPr>
        <p:spPr>
          <a:xfrm>
            <a:off x="6553947" y="1723661"/>
            <a:ext cx="1790292" cy="941161"/>
          </a:xfrm>
          <a:prstGeom prst="roundRect">
            <a:avLst>
              <a:gd name="adj" fmla="val 15279"/>
            </a:avLst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2" name="椭圆 11"/>
          <p:cNvSpPr/>
          <p:nvPr userDrawn="1"/>
        </p:nvSpPr>
        <p:spPr>
          <a:xfrm>
            <a:off x="7151914" y="3814355"/>
            <a:ext cx="574765" cy="574765"/>
          </a:xfrm>
          <a:prstGeom prst="ellipse">
            <a:avLst/>
          </a:prstGeom>
          <a:solidFill>
            <a:srgbClr val="A47D69"/>
          </a:solidFill>
          <a:ln w="38100">
            <a:solidFill>
              <a:srgbClr val="EFEE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Open Sans" panose="020B060603050402020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 bwMode="auto">
          <a:xfrm>
            <a:off x="1321435" y="1769110"/>
            <a:ext cx="6695440" cy="114363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dist">
              <a:defRPr/>
            </a:pPr>
            <a:r>
              <a:rPr lang="en-US" altLang="en-US" sz="3600">
                <a:solidFill>
                  <a:srgbClr val="AD8555"/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</a:rPr>
              <a:t>Instagram Performance Analytics for Sugar Cosmetics</a:t>
            </a:r>
            <a:endParaRPr lang="en-US" altLang="en-US" sz="3600">
              <a:solidFill>
                <a:srgbClr val="AD8555"/>
              </a:solidFill>
              <a:latin typeface="Open Sans" panose="020B0606030504020204" charset="0"/>
              <a:ea typeface="Open Sans" panose="020B0606030504020204" charset="0"/>
              <a:cs typeface="Open Sans" panose="020B06060305040202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椭圆 44"/>
          <p:cNvSpPr/>
          <p:nvPr/>
        </p:nvSpPr>
        <p:spPr>
          <a:xfrm>
            <a:off x="5476044" y="1881300"/>
            <a:ext cx="269387" cy="269387"/>
          </a:xfrm>
          <a:prstGeom prst="ellipse">
            <a:avLst/>
          </a:prstGeom>
          <a:solidFill>
            <a:srgbClr val="FDDA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Open Sans" panose="020B0606030504020204" charset="0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5476044" y="766427"/>
            <a:ext cx="269387" cy="269387"/>
          </a:xfrm>
          <a:prstGeom prst="ellipse">
            <a:avLst/>
          </a:prstGeom>
          <a:solidFill>
            <a:srgbClr val="CEE7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Open Sans" panose="020B0606030504020204" charset="0"/>
            </a:endParaRPr>
          </a:p>
        </p:txBody>
      </p:sp>
      <p:sp>
        <p:nvSpPr>
          <p:cNvPr id="46" name="椭圆 45"/>
          <p:cNvSpPr/>
          <p:nvPr/>
        </p:nvSpPr>
        <p:spPr>
          <a:xfrm>
            <a:off x="5476044" y="4157969"/>
            <a:ext cx="269387" cy="269387"/>
          </a:xfrm>
          <a:prstGeom prst="ellipse">
            <a:avLst/>
          </a:prstGeom>
          <a:solidFill>
            <a:srgbClr val="FDDA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Open Sans" panose="020B0606030504020204" charset="0"/>
            </a:endParaRPr>
          </a:p>
        </p:txBody>
      </p:sp>
      <p:sp>
        <p:nvSpPr>
          <p:cNvPr id="47" name="椭圆 46"/>
          <p:cNvSpPr/>
          <p:nvPr/>
        </p:nvSpPr>
        <p:spPr>
          <a:xfrm>
            <a:off x="5476044" y="3043096"/>
            <a:ext cx="269387" cy="269387"/>
          </a:xfrm>
          <a:prstGeom prst="ellipse">
            <a:avLst/>
          </a:prstGeom>
          <a:solidFill>
            <a:srgbClr val="CEE7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Open Sans" panose="020B060603050402020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544830" y="64770"/>
            <a:ext cx="8383270" cy="7016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GB" altLang="en-US" sz="2400"/>
              <a:t>Task 1 : </a:t>
            </a:r>
            <a:r>
              <a:rPr lang="en-US" altLang="en-US" sz="2400"/>
              <a:t>Overview KPIs – Brand’s Instagram Summary</a:t>
            </a:r>
            <a:endParaRPr lang="en-US" altLang="en-US" sz="2400"/>
          </a:p>
        </p:txBody>
      </p:sp>
      <p:sp>
        <p:nvSpPr>
          <p:cNvPr id="4" name="Text Box 3"/>
          <p:cNvSpPr txBox="1"/>
          <p:nvPr/>
        </p:nvSpPr>
        <p:spPr>
          <a:xfrm>
            <a:off x="912495" y="1146810"/>
            <a:ext cx="3862070" cy="7010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90420" y="676910"/>
            <a:ext cx="4309745" cy="1473835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737235" y="2366010"/>
            <a:ext cx="7272655" cy="2126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1400"/>
              <a:t>The brand has a large-scale Instagram presence with 50,000 posts and nearly 1 billion total reach, showing strong awareness and long-term content strategy.</a:t>
            </a:r>
            <a:endParaRPr lang="en-US" altLang="en-US" sz="1400"/>
          </a:p>
          <a:p>
            <a:endParaRPr lang="en-US" altLang="en-US" sz="1400"/>
          </a:p>
          <a:p>
            <a:r>
              <a:rPr lang="en-US" altLang="en-US" sz="1400"/>
              <a:t>Engagement is highly active with 147M likes and 18.4M comments, indicating a very engaged and interactive audience, not just passive viewers.</a:t>
            </a:r>
            <a:endParaRPr lang="en-US" altLang="en-US" sz="1400"/>
          </a:p>
          <a:p>
            <a:endParaRPr lang="en-US" altLang="en-US" sz="1400"/>
          </a:p>
          <a:p>
            <a:r>
              <a:rPr lang="en-US" altLang="en-US" sz="1400"/>
              <a:t>Each post performs strongly on average, generating around 2.9K likes and 369 comments, showing consistent content efficiency even at high volume.</a:t>
            </a:r>
            <a:endParaRPr lang="en-US" altLang="en-US" sz="1400"/>
          </a:p>
          <a:p>
            <a:endParaRPr lang="en-US" altLang="en-US" sz="1400"/>
          </a:p>
          <a:p>
            <a:r>
              <a:rPr lang="en-US" altLang="en-US" sz="1400"/>
              <a:t>The average engagement rate (~18.5%) is extremely high compared to industry standards, </a:t>
            </a:r>
            <a:endParaRPr lang="en-US" altLang="en-US"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/>
          <p:cNvSpPr/>
          <p:nvPr/>
        </p:nvSpPr>
        <p:spPr>
          <a:xfrm>
            <a:off x="4693024" y="1136277"/>
            <a:ext cx="369794" cy="369794"/>
          </a:xfrm>
          <a:prstGeom prst="ellipse">
            <a:avLst/>
          </a:prstGeom>
          <a:solidFill>
            <a:srgbClr val="CEE7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Open Sans" panose="020B060603050402020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887095" y="167005"/>
            <a:ext cx="7706995" cy="6362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800"/>
              <a:t>Task 2: Monthly Posting Trend</a:t>
            </a:r>
            <a:endParaRPr lang="en-US" altLang="en-US" sz="2800"/>
          </a:p>
          <a:p>
            <a:endParaRPr lang="en-US" altLang="en-US" sz="2800"/>
          </a:p>
        </p:txBody>
      </p:sp>
      <p:sp>
        <p:nvSpPr>
          <p:cNvPr id="5" name="Text Box 4"/>
          <p:cNvSpPr txBox="1"/>
          <p:nvPr/>
        </p:nvSpPr>
        <p:spPr>
          <a:xfrm>
            <a:off x="387985" y="3476625"/>
            <a:ext cx="8206105" cy="10426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1600"/>
              <a:t>Stable output: ~4,000–4,300 posts/month (May 2024–Mar 2025)</a:t>
            </a:r>
            <a:endParaRPr lang="en-US" altLang="en-US" sz="1600"/>
          </a:p>
          <a:p>
            <a:r>
              <a:rPr lang="zh-CN" altLang="en-US" sz="1600"/>
              <a:t>* </a:t>
            </a:r>
            <a:r>
              <a:rPr lang="en-US" altLang="en-US" sz="1600"/>
              <a:t>Drops in April: Likely partial data, not performance decline</a:t>
            </a:r>
            <a:endParaRPr lang="en-US" altLang="en-US" sz="1600"/>
          </a:p>
          <a:p>
            <a:r>
              <a:rPr lang="zh-CN" altLang="en-US" sz="1600"/>
              <a:t>* </a:t>
            </a:r>
            <a:r>
              <a:rPr lang="en-US" altLang="en-US" sz="1600"/>
              <a:t>Minor dip: Feb 2025 lower due to shorter month</a:t>
            </a:r>
            <a:endParaRPr lang="en-US" altLang="en-US" sz="1600"/>
          </a:p>
          <a:p>
            <a:r>
              <a:rPr lang="en-US" altLang="en-US" sz="1600"/>
              <a:t>* High scale: ~135 posts/day shows automated/templated content system</a:t>
            </a:r>
            <a:endParaRPr lang="en-US" altLang="en-US" sz="1600"/>
          </a:p>
          <a:p>
            <a:r>
              <a:rPr lang="zh-CN" altLang="en-US" sz="1600"/>
              <a:t>* </a:t>
            </a:r>
            <a:r>
              <a:rPr lang="en-US" altLang="en-US" sz="1600"/>
              <a:t>Overall: Very consistent high-volume content strategy</a:t>
            </a:r>
            <a:endParaRPr lang="en-US" altLang="en-US" sz="160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2865" y="675640"/>
            <a:ext cx="6478905" cy="273431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387350" y="158115"/>
            <a:ext cx="8280400" cy="8763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en-US" sz="2800"/>
              <a:t>Task 3: Top 10 Posts by Likes</a:t>
            </a:r>
            <a:endParaRPr lang="en-US" altLang="en-US" sz="280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5785" y="798195"/>
            <a:ext cx="2738120" cy="1773555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1174115" y="2802255"/>
            <a:ext cx="5940425" cy="21710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/>
              <a:t>Top</a:t>
            </a:r>
            <a:r>
              <a:rPr lang="en-GB" altLang="en-US"/>
              <a:t> 10</a:t>
            </a:r>
            <a:r>
              <a:rPr lang="en-US" altLang="en-US"/>
              <a:t> posts indicate high audience interest content</a:t>
            </a:r>
            <a:endParaRPr lang="en-US" altLang="en-US"/>
          </a:p>
          <a:p>
            <a:r>
              <a:rPr lang="en-US" altLang="en-US"/>
              <a:t>Helps identify:</a:t>
            </a:r>
            <a:endParaRPr lang="en-US" altLang="en-US"/>
          </a:p>
          <a:p>
            <a:r>
              <a:rPr lang="en-US" altLang="en-US"/>
              <a:t>content type (Reels, Images, etc.)</a:t>
            </a:r>
            <a:endParaRPr lang="en-US" altLang="en-US"/>
          </a:p>
          <a:p>
            <a:r>
              <a:rPr lang="en-US" altLang="en-US"/>
              <a:t>Best campaign type</a:t>
            </a:r>
            <a:endParaRPr lang="en-US" altLang="en-US"/>
          </a:p>
          <a:p>
            <a:r>
              <a:rPr lang="en-US" altLang="en-US"/>
              <a:t>Viral posts</a:t>
            </a:r>
            <a:endParaRPr lang="en-US" altLang="en-US"/>
          </a:p>
          <a:p>
            <a:r>
              <a:rPr lang="en-US" altLang="en-US"/>
              <a:t>High likes usually = strong reach + engagement synergy</a:t>
            </a:r>
            <a:endParaRPr lang="en-US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693420" y="121285"/>
            <a:ext cx="8104505" cy="10337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800"/>
              <a:t>Task 4: Top 10 Posts by Engagement Rate</a:t>
            </a:r>
            <a:endParaRPr lang="en-US" sz="280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67330" y="675005"/>
            <a:ext cx="2899410" cy="2232025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1412240" y="3116580"/>
            <a:ext cx="5969635" cy="1865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Top posts by engagement rate show true content quality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High likes ≠ high engagement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Engagement rate reveals: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audience interaction strength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content relevance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viral potential</a:t>
            </a:r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600075" y="148590"/>
            <a:ext cx="8123555" cy="8115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800"/>
              <a:t>Task 5: Post Type Performance Comparison</a:t>
            </a:r>
            <a:endParaRPr lang="en-US" altLang="en-US" sz="280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2910" y="728980"/>
            <a:ext cx="5276850" cy="3686175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1023620" y="4660265"/>
            <a:ext cx="7096760" cy="377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/>
              <a:t>Show average likes, comments, saves for each type.</a:t>
            </a:r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Box 2"/>
          <p:cNvSpPr txBox="1"/>
          <p:nvPr/>
        </p:nvSpPr>
        <p:spPr>
          <a:xfrm>
            <a:off x="526415" y="111125"/>
            <a:ext cx="8383270" cy="885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400"/>
              <a:t>Task 6: Day of Week Analysis</a:t>
            </a:r>
            <a:endParaRPr lang="en-US" altLang="en-US" sz="240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2675" y="623570"/>
            <a:ext cx="4300220" cy="3057525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1747520" y="3745230"/>
            <a:ext cx="5320665" cy="13976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/>
              <a:t>Engagement is almost same across all days</a:t>
            </a:r>
            <a:endParaRPr lang="en-US" altLang="en-US"/>
          </a:p>
          <a:p>
            <a:r>
              <a:rPr lang="en-US" altLang="en-US"/>
              <a:t>* Friday &amp; Saturday slightly highest</a:t>
            </a:r>
            <a:endParaRPr lang="en-US" altLang="en-US"/>
          </a:p>
          <a:p>
            <a:r>
              <a:rPr lang="en-US" altLang="en-US"/>
              <a:t>* Sunday lowest but difference is minimal</a:t>
            </a:r>
            <a:endParaRPr lang="en-US" altLang="en-US"/>
          </a:p>
          <a:p>
            <a:r>
              <a:rPr lang="en-US" altLang="en-US"/>
              <a:t>* Overall: no strong weekday impact</a:t>
            </a:r>
            <a:endParaRPr lang="en-US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313690" y="0"/>
            <a:ext cx="8447405" cy="9404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400"/>
              <a:t>Task 7: Engagement Funnel</a:t>
            </a:r>
            <a:endParaRPr lang="en-US" altLang="en-US" sz="240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8785" y="664210"/>
            <a:ext cx="5098415" cy="304165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59690" y="3791585"/>
            <a:ext cx="9084310" cy="11353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altLang="en-US" sz="1200"/>
              <a:t>F</a:t>
            </a:r>
            <a:r>
              <a:rPr lang="en-US" altLang="en-US" sz="1200"/>
              <a:t>unnel performance with 1.27B impressions and 987.4M reach, proving the campaign successfully gained massive visibility.</a:t>
            </a:r>
            <a:endParaRPr lang="en-US" altLang="en-US" sz="12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1200"/>
              <a:t> Strong Audience Relevancy: A high 77.3% of impressions converted into actual unique reach, meaning ad targeting was highly accurate.</a:t>
            </a:r>
            <a:endParaRPr lang="en-US" altLang="en-US" sz="12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1200"/>
              <a:t> The Engagement Gap: Passive interest is decent (147.7M likes), but deep engagement drops off drastically with only 1.8% of reached users commenting (18.4M).</a:t>
            </a:r>
            <a:endParaRPr lang="en-US" altLang="en-US" sz="12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1200"/>
              <a:t> Low Conversion Intent: High-value advocacy actions are critically low, as both saves (8.8M) and shares (8.1M) account for under 1% of total reach.</a:t>
            </a:r>
            <a:endParaRPr lang="en-US" altLang="en-US" sz="1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351155" y="251460"/>
            <a:ext cx="8641080" cy="6076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400"/>
              <a:t>Task 8: Hashtag Analysi</a:t>
            </a:r>
            <a:r>
              <a:rPr lang="en-US" altLang="en-US"/>
              <a:t>s</a:t>
            </a:r>
            <a:endParaRPr lang="en-US" alt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9815" y="859155"/>
            <a:ext cx="6616700" cy="40449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424815" y="66040"/>
            <a:ext cx="8428355" cy="6445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en-US" sz="2000"/>
              <a:t>Task 9: Final Dashboard – Instagram Insights Report</a:t>
            </a:r>
            <a:endParaRPr lang="en-US" altLang="en-US" sz="2000"/>
          </a:p>
          <a:p>
            <a:pPr algn="ctr"/>
            <a:endParaRPr lang="en-US" altLang="en-US" sz="200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23875"/>
            <a:ext cx="9144000" cy="44475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240030" y="187325"/>
            <a:ext cx="8806815" cy="5988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en-US" sz="2000"/>
              <a:t>Task 10: Strategic Recommendation</a:t>
            </a:r>
            <a:endParaRPr lang="en-US" altLang="en-US" sz="2000"/>
          </a:p>
          <a:p>
            <a:pPr algn="ctr"/>
            <a:endParaRPr lang="en-US" altLang="en-US" sz="2000"/>
          </a:p>
        </p:txBody>
      </p:sp>
      <p:sp>
        <p:nvSpPr>
          <p:cNvPr id="3" name="Text Box 2"/>
          <p:cNvSpPr txBox="1"/>
          <p:nvPr/>
        </p:nvSpPr>
        <p:spPr>
          <a:xfrm>
            <a:off x="240030" y="676275"/>
            <a:ext cx="8556625" cy="41941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GB" altLang="en-US" b="1"/>
              <a:t>Key insights :</a:t>
            </a:r>
            <a:endParaRPr lang="en-GB" altLang="en-US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/>
              <a:t>Strong brand visibility with ~987M reach and consistent posting (~4K/month)</a:t>
            </a:r>
            <a:endParaRPr lang="en-US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/>
              <a:t>Engagement rate (~18–22%) shows healthy audience interaction</a:t>
            </a:r>
            <a:endParaRPr lang="en-US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/>
              <a:t>Engagement is stable across days with slight mid-week advantage</a:t>
            </a:r>
            <a:r>
              <a:rPr lang="en-GB" altLang="en-US" sz="1600"/>
              <a:t>.</a:t>
            </a:r>
            <a:endParaRPr lang="en-GB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altLang="en-US" b="1"/>
          </a:p>
          <a:p>
            <a:pPr indent="0">
              <a:buFont typeface="Arial" panose="020B0604020202020204" pitchFamily="34" charset="0"/>
              <a:buNone/>
            </a:pPr>
            <a:r>
              <a:rPr lang="en-GB" altLang="en-US" b="1"/>
              <a:t>My recommendation:</a:t>
            </a:r>
            <a:endParaRPr lang="en-GB" altLang="en-US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/>
              <a:t>Maintain consistent posting frequency (avoid fluctuations)</a:t>
            </a:r>
            <a:endParaRPr lang="en-US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/>
              <a:t>Prioritize Wed–Fri for higher engagement potential</a:t>
            </a:r>
            <a:endParaRPr lang="en-US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/>
              <a:t>Focus more on Reels + Product Launch + Influencer content</a:t>
            </a:r>
            <a:endParaRPr lang="en-US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en-US" sz="1600"/>
              <a:t>Need to focus more on Influencer marketing.</a:t>
            </a:r>
            <a:endParaRPr lang="en-GB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/>
              <a:t>Seasonal giveaway campaigns tied to product launches</a:t>
            </a:r>
            <a:r>
              <a:rPr lang="en-GB" altLang="en-US" sz="1600"/>
              <a:t>.</a:t>
            </a:r>
            <a:endParaRPr lang="en-GB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en-US" sz="1600"/>
              <a:t>Seasonal content posting.</a:t>
            </a:r>
            <a:endParaRPr lang="en-GB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en-US" sz="1600"/>
              <a:t>Making blog or 7 days transformation series.</a:t>
            </a:r>
            <a:endParaRPr lang="en-GB" altLang="en-US" sz="16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/>
        </p:nvSpPr>
        <p:spPr bwMode="auto">
          <a:xfrm>
            <a:off x="1528364" y="1295574"/>
            <a:ext cx="6087272" cy="11068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6600" kern="100">
                <a:solidFill>
                  <a:srgbClr val="AD8555"/>
                </a:solidFill>
                <a:latin typeface="Cinzel" panose="00000500000000000000" charset="0"/>
                <a:ea typeface="Open Sans" panose="020B0606030504020204" charset="0"/>
                <a:cs typeface="Cinzel" panose="00000500000000000000" charset="0"/>
              </a:rPr>
              <a:t>THANK YOU</a:t>
            </a:r>
            <a:endParaRPr lang="zh-CN" altLang="en-US" sz="6600" kern="100">
              <a:solidFill>
                <a:srgbClr val="AD8555"/>
              </a:solidFill>
              <a:latin typeface="Cinzel" panose="00000500000000000000" charset="0"/>
              <a:ea typeface="Open Sans" panose="020B0606030504020204" charset="0"/>
              <a:cs typeface="Cinzel" panose="00000500000000000000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PP_MARK_KEY" val="7bd07e95-e1be-49c5-9ffb-c17509c6dc48"/>
  <p:tag name="COMMONDATA" val="eyJoZGlkIjoiMmNmYmEwOWQ4Y2Q0M2IxMGZkNjI4ZjhkZDQyNzg1OTYifQ=="/>
</p:tagLst>
</file>

<file path=ppt/theme/theme1.xml><?xml version="1.0" encoding="utf-8"?>
<a:theme xmlns:a="http://schemas.openxmlformats.org/drawingml/2006/main" name="Office 主题​​">
  <a:themeElements>
    <a:clrScheme name="自定义 280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25066"/>
      </a:accent1>
      <a:accent2>
        <a:srgbClr val="44546A"/>
      </a:accent2>
      <a:accent3>
        <a:srgbClr val="D6CBC9"/>
      </a:accent3>
      <a:accent4>
        <a:srgbClr val="A59D9A"/>
      </a:accent4>
      <a:accent5>
        <a:srgbClr val="5B9BD5"/>
      </a:accent5>
      <a:accent6>
        <a:srgbClr val="70AD47"/>
      </a:accent6>
      <a:hlink>
        <a:srgbClr val="000000"/>
      </a:hlink>
      <a:folHlink>
        <a:srgbClr val="954F72"/>
      </a:folHlink>
    </a:clrScheme>
    <a:fontScheme name="Butler">
      <a:majorFont>
        <a:latin typeface="Open Sans"/>
        <a:ea typeface="汉仪大宋简"/>
        <a:cs typeface=""/>
      </a:majorFont>
      <a:minorFont>
        <a:latin typeface="Open Sans"/>
        <a:ea typeface="Open Sans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Open Sans"/>
        <a:ea typeface=""/>
        <a:cs typeface=""/>
        <a:font script="Jpan" typeface="ＭＳ Ｐゴシック"/>
        <a:font script="Hang" typeface="맑은 고딕"/>
        <a:font script="Hans" typeface="Open Sans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Open Sans"/>
        <a:ea typeface=""/>
        <a:cs typeface=""/>
        <a:font script="Jpan" typeface="ＭＳ Ｐゴシック"/>
        <a:font script="Hang" typeface="맑은 고딕"/>
        <a:font script="Hans" typeface="Open Sans"/>
        <a:font script="Hant" typeface="新細明體"/>
        <a:font script="Arab" typeface="Open Sans"/>
        <a:font script="Hebr" typeface="Open Sans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Open Sans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Open Sans"/>
        <a:ea typeface=""/>
        <a:cs typeface=""/>
        <a:font script="Jpan" typeface="游ゴシック"/>
        <a:font script="Hang" typeface="맑은 고딕"/>
        <a:font script="Hans" typeface="Open Sans"/>
        <a:font script="Hant" typeface="新細明體"/>
        <a:font script="Arab" typeface="Open Sans"/>
        <a:font script="Hebr" typeface="Open Sans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Open Sans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2901</Words>
  <Application>WPS Presentation</Application>
  <PresentationFormat>全屏显示(16:9)</PresentationFormat>
  <Paragraphs>81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4" baseType="lpstr">
      <vt:lpstr>Arial</vt:lpstr>
      <vt:lpstr>SimSun</vt:lpstr>
      <vt:lpstr>Wingdings</vt:lpstr>
      <vt:lpstr>Open Sans</vt:lpstr>
      <vt:lpstr>Calibri Light</vt:lpstr>
      <vt:lpstr>方正宋刻本秀楷简体</vt:lpstr>
      <vt:lpstr>Cinzel</vt:lpstr>
      <vt:lpstr>Microsoft YaHei</vt:lpstr>
      <vt:lpstr>Arial Unicode MS</vt:lpstr>
      <vt:lpstr>华文细黑</vt:lpstr>
      <vt:lpstr>Microsoft YaHei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哒哒 熊猫</dc:creator>
  <cp:lastModifiedBy>MD KAIF</cp:lastModifiedBy>
  <cp:revision>681</cp:revision>
  <dcterms:created xsi:type="dcterms:W3CDTF">2019-01-15T03:31:00Z</dcterms:created>
  <dcterms:modified xsi:type="dcterms:W3CDTF">2026-06-08T09:46:20Z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1033-12.1.0.26372</vt:lpwstr>
  </property>
  <property fmtid="{D5CDD505-2E9C-101B-9397-08002B2CF9AE}" pid="3" name="ICV">
    <vt:lpwstr>D5A6E9B2EF2748A8989C7B8CBD42E8CF_11</vt:lpwstr>
  </property>
</Properties>
</file>